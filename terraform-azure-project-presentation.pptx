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F6CD0A-094C-4107-9257-74D3A09D075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30 seconds. Welcome the audience and set expectations: a short explanation, the Azure project, then a live demo.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E96D5C-CD1F-475D-B1F4-F0E441632F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60 seconds. Replace the orange prompt with your exact employment history before presenting. Suggested delivery: briefly state your current/recent role, total years of experience, and the cloud or operations responsibilities most relevant to this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BD5E183-0227-4B92-A46D-80CE93412D0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75 seconds. Avoid jargon. Compare Terraform to a building blueprint: the file describes the desired result; Terraform determines the actions needed to reach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178DE52-FED9-4D54-A540-D31BA19D0E2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75 seconds. Tie each benefit to both audiences: faster delivery for the business; predictable, reviewable changes for technical teams.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A395FB-086C-4EAF-ABD3-19F227BD3E8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75 seconds. This slide intentionally stays conceptual for a mixed audience. Adjust the resource label if your code deploys specific services such as networking, virtual machines, storage, or Key Vault.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9F30742-0AF5-44BF-9C05-146C95E8617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60 seconds. Emphasize that plan is a safety checkpoint. In team settings, plans can be reviewed in CI/CD before apply is permitted.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09C9BA1-C645-4E27-BA0C-45A3941DC71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3–5 minutes. Suggested commands (from the correct root module): terraform fmt -check -recursive; terraform init (only if already initialized or network access is ready); terraform validate; terraform plan -var-file=environments/azure-dev/terraform.tfvars. Do not apply unless the audience expects a real deployment and credentials/cost controls are confirmed.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20DE479-2341-4284-A2CC-A35FC69C53B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60 seconds. State clearly that Terraform does not automatically create good governance; teams add state protection, secret handling, review, testing, and access controls.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233BE52-F651-47DF-A609-0B0DDF34B2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45 seconds. Summarize the technical and business value in one sentence each.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9C727E-FDF1-45D3-B113-82DABA1CCFA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15 seconds before Q&amp;A. Total target: approximately 10 minutes of slides plus 3–5 minutes of demo.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69F345-3803-463E-B92E-C30FB2848B4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BB45F0-BD58-4899-9C75-5EDEEA72F2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32DDC50-C43B-469F-AA90-0F27E37738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CFD1A7B-48DC-4CC9-B03C-051D2D8A6A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835274E-2882-4B7A-90CC-69190AD73D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069D97-3F9E-48ED-AE36-F112048827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0FD557E-9D73-44E4-A83B-40D1DA6E7C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CDCC130-3B4F-4693-A6ED-453BD2DA8F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D181B5-127C-4519-92FB-747334BB81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BEEC666-4AB3-4C7D-8652-0ABA644E15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752B8E7-950E-488A-AD8F-88DE029306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4C8CD4C-7AA6-4202-B8EA-8AC651962C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02920" y="228600"/>
            <a:ext cx="5028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TERRAFORM + AZURE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1292840" y="642816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94360" y="1143000"/>
            <a:ext cx="749736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Infrastructure as Code</a:t>
            </a:r>
            <a:br>
              <a:rPr sz="3800"/>
            </a:b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on Microsoft Azure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2880360"/>
            <a:ext cx="6674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A practical Terraform project walkthrough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640080" y="3675960"/>
            <a:ext cx="4754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Leonard Johnson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40080" y="409644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Technical presentation • &lt; 15 minutes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8"/>
          <p:cNvSpPr/>
          <p:nvPr/>
        </p:nvSpPr>
        <p:spPr>
          <a:xfrm>
            <a:off x="8458200" y="1051560"/>
            <a:ext cx="2879640" cy="315396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7C4D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8869680" y="1444680"/>
            <a:ext cx="2056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7C4DFF"/>
                </a:solidFill>
                <a:effectLst/>
                <a:uFillTx/>
                <a:latin typeface="Aptos"/>
              </a:rPr>
              <a:t>{  }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8961120" y="254196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PLAN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8915400" y="3017520"/>
            <a:ext cx="1919520" cy="7236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8961120" y="331920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9C787"/>
                </a:solidFill>
                <a:effectLst/>
                <a:uFillTx/>
                <a:latin typeface="Aptos"/>
              </a:rPr>
              <a:t>APPLY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502920" y="228600"/>
            <a:ext cx="5028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INTRODUCTION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11292840" y="642816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502920" y="621720"/>
            <a:ext cx="107892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About me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5"/>
          <p:cNvSpPr/>
          <p:nvPr/>
        </p:nvSpPr>
        <p:spPr>
          <a:xfrm>
            <a:off x="502920" y="1398960"/>
            <a:ext cx="657720" cy="45000"/>
          </a:xfrm>
          <a:prstGeom prst="rect">
            <a:avLst/>
          </a:prstGeom>
          <a:solidFill>
            <a:srgbClr val="30C6FF"/>
          </a:solidFill>
          <a:ln>
            <a:solidFill>
              <a:srgbClr val="3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502920" y="157284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A builder’s perspective on reliable cloud infrastructure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7"/>
          <p:cNvSpPr/>
          <p:nvPr/>
        </p:nvSpPr>
        <p:spPr>
          <a:xfrm>
            <a:off x="594360" y="2148840"/>
            <a:ext cx="2742480" cy="324540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1207080" y="2487240"/>
            <a:ext cx="150804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LJ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868680" y="3904560"/>
            <a:ext cx="2193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Leonard Johnson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777240" y="4572000"/>
            <a:ext cx="2376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Cloud • Automation • Delivery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3886200" y="2148840"/>
            <a:ext cx="740592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●  Technology professional with hands-on cloud and infrastructure automation experience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●  Focused on repeatable deployments, operational consistency, and continuous learning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●  This project demonstrates how I translate cloud requirements into version-controlled code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502920" y="228600"/>
            <a:ext cx="5028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FOUNDATION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11292840" y="642816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502920" y="621720"/>
            <a:ext cx="107892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Terraform, in plain language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502920" y="1398960"/>
            <a:ext cx="657720" cy="45000"/>
          </a:xfrm>
          <a:prstGeom prst="rect">
            <a:avLst/>
          </a:prstGeom>
          <a:solidFill>
            <a:srgbClr val="30C6FF"/>
          </a:solidFill>
          <a:ln>
            <a:solidFill>
              <a:srgbClr val="3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502920" y="1572840"/>
            <a:ext cx="107892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A blueprint that cloud and on prem platforms can understand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7"/>
          <p:cNvSpPr/>
          <p:nvPr/>
        </p:nvSpPr>
        <p:spPr>
          <a:xfrm>
            <a:off x="640080" y="2212920"/>
            <a:ext cx="3336840" cy="237672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8"/>
          <p:cNvSpPr/>
          <p:nvPr/>
        </p:nvSpPr>
        <p:spPr>
          <a:xfrm>
            <a:off x="640080" y="2212920"/>
            <a:ext cx="3336840" cy="72360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9"/>
          <p:cNvSpPr/>
          <p:nvPr/>
        </p:nvSpPr>
        <p:spPr>
          <a:xfrm>
            <a:off x="896040" y="258768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C4DFF"/>
                </a:solidFill>
                <a:effectLst/>
                <a:uFillTx/>
                <a:latin typeface="Aptos"/>
              </a:rPr>
              <a:t>DECLARE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896040" y="3136320"/>
            <a:ext cx="27882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Describe the infrastructure</a:t>
            </a:r>
            <a:br>
              <a:rPr sz="1800"/>
            </a:b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you want in code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1"/>
          <p:cNvSpPr/>
          <p:nvPr/>
        </p:nvSpPr>
        <p:spPr>
          <a:xfrm>
            <a:off x="4434840" y="2212920"/>
            <a:ext cx="3336840" cy="237672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12"/>
          <p:cNvSpPr/>
          <p:nvPr/>
        </p:nvSpPr>
        <p:spPr>
          <a:xfrm>
            <a:off x="4434840" y="2212920"/>
            <a:ext cx="3336840" cy="7236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3"/>
          <p:cNvSpPr/>
          <p:nvPr/>
        </p:nvSpPr>
        <p:spPr>
          <a:xfrm>
            <a:off x="4690800" y="258768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78D4"/>
                </a:solidFill>
                <a:effectLst/>
                <a:uFillTx/>
                <a:latin typeface="Aptos"/>
              </a:rPr>
              <a:t>PREVIEW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4"/>
          <p:cNvSpPr/>
          <p:nvPr/>
        </p:nvSpPr>
        <p:spPr>
          <a:xfrm>
            <a:off x="4690800" y="3136320"/>
            <a:ext cx="27882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See proposed changes</a:t>
            </a:r>
            <a:br>
              <a:rPr sz="1800"/>
            </a:b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before they happen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5"/>
          <p:cNvSpPr/>
          <p:nvPr/>
        </p:nvSpPr>
        <p:spPr>
          <a:xfrm>
            <a:off x="8229600" y="2212920"/>
            <a:ext cx="3336840" cy="237672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16"/>
          <p:cNvSpPr/>
          <p:nvPr/>
        </p:nvSpPr>
        <p:spPr>
          <a:xfrm>
            <a:off x="8229600" y="2212920"/>
            <a:ext cx="3336840" cy="72360"/>
          </a:xfrm>
          <a:prstGeom prst="rect">
            <a:avLst/>
          </a:prstGeom>
          <a:solidFill>
            <a:srgbClr val="39C787"/>
          </a:solidFill>
          <a:ln>
            <a:solidFill>
              <a:srgbClr val="39C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7"/>
          <p:cNvSpPr/>
          <p:nvPr/>
        </p:nvSpPr>
        <p:spPr>
          <a:xfrm>
            <a:off x="8485560" y="258768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9C787"/>
                </a:solidFill>
                <a:effectLst/>
                <a:uFillTx/>
                <a:latin typeface="Aptos"/>
              </a:rPr>
              <a:t>DELIVER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8"/>
          <p:cNvSpPr/>
          <p:nvPr/>
        </p:nvSpPr>
        <p:spPr>
          <a:xfrm>
            <a:off x="8485560" y="3136320"/>
            <a:ext cx="27882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Create or update resources</a:t>
            </a:r>
            <a:br>
              <a:rPr sz="1800"/>
            </a:b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consistently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9"/>
          <p:cNvSpPr/>
          <p:nvPr/>
        </p:nvSpPr>
        <p:spPr>
          <a:xfrm>
            <a:off x="731520" y="5074920"/>
            <a:ext cx="10697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E7F2FF"/>
                </a:solidFill>
                <a:effectLst/>
                <a:uFillTx/>
                <a:latin typeface="Aptos"/>
              </a:rPr>
              <a:t>Infrastructure as Code (IaC) makes infrastructure reviewable, repeatable, and auditable.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502920" y="228600"/>
            <a:ext cx="5028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BUSINESS VALUE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11292840" y="642816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502920" y="621720"/>
            <a:ext cx="107892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 teams use it today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5"/>
          <p:cNvSpPr/>
          <p:nvPr/>
        </p:nvSpPr>
        <p:spPr>
          <a:xfrm>
            <a:off x="502920" y="1398960"/>
            <a:ext cx="657720" cy="45000"/>
          </a:xfrm>
          <a:prstGeom prst="rect">
            <a:avLst/>
          </a:prstGeom>
          <a:solidFill>
            <a:srgbClr val="30C6FF"/>
          </a:solidFill>
          <a:ln>
            <a:solidFill>
              <a:srgbClr val="3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502920" y="1572840"/>
            <a:ext cx="107892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Speed without giving up control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7"/>
          <p:cNvSpPr/>
          <p:nvPr/>
        </p:nvSpPr>
        <p:spPr>
          <a:xfrm>
            <a:off x="640080" y="2103120"/>
            <a:ext cx="5074200" cy="135252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ounded Rectangle 8"/>
          <p:cNvSpPr/>
          <p:nvPr/>
        </p:nvSpPr>
        <p:spPr>
          <a:xfrm>
            <a:off x="868680" y="2350080"/>
            <a:ext cx="566280" cy="56628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9"/>
          <p:cNvSpPr/>
          <p:nvPr/>
        </p:nvSpPr>
        <p:spPr>
          <a:xfrm>
            <a:off x="868680" y="2404800"/>
            <a:ext cx="566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A192F"/>
                </a:solidFill>
                <a:effectLst/>
                <a:uFillTx/>
                <a:latin typeface="Aptos"/>
              </a:rPr>
              <a:t>1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1645920" y="233172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Speed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1"/>
          <p:cNvSpPr/>
          <p:nvPr/>
        </p:nvSpPr>
        <p:spPr>
          <a:xfrm>
            <a:off x="1645920" y="2761560"/>
            <a:ext cx="3611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Reusable modules reduce manual setup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2"/>
          <p:cNvSpPr/>
          <p:nvPr/>
        </p:nvSpPr>
        <p:spPr>
          <a:xfrm>
            <a:off x="6217920" y="2103120"/>
            <a:ext cx="5074200" cy="135252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ounded Rectangle 13"/>
          <p:cNvSpPr/>
          <p:nvPr/>
        </p:nvSpPr>
        <p:spPr>
          <a:xfrm>
            <a:off x="6446520" y="2350080"/>
            <a:ext cx="566280" cy="566280"/>
          </a:xfrm>
          <a:prstGeom prst="roundRect">
            <a:avLst>
              <a:gd name="adj" fmla="val 16667"/>
            </a:avLst>
          </a:prstGeom>
          <a:solidFill>
            <a:srgbClr val="39C787"/>
          </a:solidFill>
          <a:ln>
            <a:solidFill>
              <a:srgbClr val="39C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4"/>
          <p:cNvSpPr/>
          <p:nvPr/>
        </p:nvSpPr>
        <p:spPr>
          <a:xfrm>
            <a:off x="6446520" y="2404800"/>
            <a:ext cx="566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A192F"/>
                </a:solidFill>
                <a:effectLst/>
                <a:uFillTx/>
                <a:latin typeface="Aptos"/>
              </a:rPr>
              <a:t>2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5"/>
          <p:cNvSpPr/>
          <p:nvPr/>
        </p:nvSpPr>
        <p:spPr>
          <a:xfrm>
            <a:off x="7223760" y="233172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Consistency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6"/>
          <p:cNvSpPr/>
          <p:nvPr/>
        </p:nvSpPr>
        <p:spPr>
          <a:xfrm>
            <a:off x="7223760" y="2761560"/>
            <a:ext cx="3611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Dev, test, and prod follow the same pattern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17"/>
          <p:cNvSpPr/>
          <p:nvPr/>
        </p:nvSpPr>
        <p:spPr>
          <a:xfrm>
            <a:off x="640080" y="3931920"/>
            <a:ext cx="5074200" cy="135252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ounded Rectangle 18"/>
          <p:cNvSpPr/>
          <p:nvPr/>
        </p:nvSpPr>
        <p:spPr>
          <a:xfrm>
            <a:off x="868680" y="4178880"/>
            <a:ext cx="566280" cy="566280"/>
          </a:xfrm>
          <a:prstGeom prst="roundRect">
            <a:avLst>
              <a:gd name="adj" fmla="val 16667"/>
            </a:avLst>
          </a:prstGeom>
          <a:solidFill>
            <a:srgbClr val="7C4DFF"/>
          </a:solidFill>
          <a:ln>
            <a:solidFill>
              <a:srgbClr val="7C4D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9"/>
          <p:cNvSpPr/>
          <p:nvPr/>
        </p:nvSpPr>
        <p:spPr>
          <a:xfrm>
            <a:off x="868680" y="4233600"/>
            <a:ext cx="566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A192F"/>
                </a:solidFill>
                <a:effectLst/>
                <a:uFillTx/>
                <a:latin typeface="Aptos"/>
              </a:rPr>
              <a:t>3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0"/>
          <p:cNvSpPr/>
          <p:nvPr/>
        </p:nvSpPr>
        <p:spPr>
          <a:xfrm>
            <a:off x="1645920" y="416052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Visibility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1"/>
          <p:cNvSpPr/>
          <p:nvPr/>
        </p:nvSpPr>
        <p:spPr>
          <a:xfrm>
            <a:off x="1645920" y="4590360"/>
            <a:ext cx="3611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Plans make changes understandable before deployment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22"/>
          <p:cNvSpPr/>
          <p:nvPr/>
        </p:nvSpPr>
        <p:spPr>
          <a:xfrm>
            <a:off x="6217920" y="3931920"/>
            <a:ext cx="5074200" cy="135252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ounded Rectangle 23"/>
          <p:cNvSpPr/>
          <p:nvPr/>
        </p:nvSpPr>
        <p:spPr>
          <a:xfrm>
            <a:off x="6446520" y="4178880"/>
            <a:ext cx="566280" cy="566280"/>
          </a:xfrm>
          <a:prstGeom prst="roundRect">
            <a:avLst>
              <a:gd name="adj" fmla="val 16667"/>
            </a:avLst>
          </a:prstGeom>
          <a:solidFill>
            <a:srgbClr val="FFAE42"/>
          </a:solidFill>
          <a:ln>
            <a:solidFill>
              <a:srgbClr val="FFAE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4"/>
          <p:cNvSpPr/>
          <p:nvPr/>
        </p:nvSpPr>
        <p:spPr>
          <a:xfrm>
            <a:off x="6446520" y="4233600"/>
            <a:ext cx="566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A192F"/>
                </a:solidFill>
                <a:effectLst/>
                <a:uFillTx/>
                <a:latin typeface="Aptos"/>
              </a:rPr>
              <a:t>4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5"/>
          <p:cNvSpPr/>
          <p:nvPr/>
        </p:nvSpPr>
        <p:spPr>
          <a:xfrm>
            <a:off x="7223760" y="416052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Governance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6"/>
          <p:cNvSpPr/>
          <p:nvPr/>
        </p:nvSpPr>
        <p:spPr>
          <a:xfrm>
            <a:off x="7223760" y="4590360"/>
            <a:ext cx="3611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Code review and history support auditability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502920" y="228600"/>
            <a:ext cx="5028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SOLUTION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11292840" y="642816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502920" y="621720"/>
            <a:ext cx="107892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The project at a glance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5"/>
          <p:cNvSpPr/>
          <p:nvPr/>
        </p:nvSpPr>
        <p:spPr>
          <a:xfrm>
            <a:off x="502920" y="1398960"/>
            <a:ext cx="657720" cy="45000"/>
          </a:xfrm>
          <a:prstGeom prst="rect">
            <a:avLst/>
          </a:prstGeom>
          <a:solidFill>
            <a:srgbClr val="30C6FF"/>
          </a:solidFill>
          <a:ln>
            <a:solidFill>
              <a:srgbClr val="3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6"/>
          <p:cNvSpPr/>
          <p:nvPr/>
        </p:nvSpPr>
        <p:spPr>
          <a:xfrm>
            <a:off x="502920" y="157284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A reusable Terraform foundation for an Azure development environment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7"/>
          <p:cNvSpPr/>
          <p:nvPr/>
        </p:nvSpPr>
        <p:spPr>
          <a:xfrm>
            <a:off x="594360" y="2331720"/>
            <a:ext cx="2010960" cy="114228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7C4D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8"/>
          <p:cNvSpPr/>
          <p:nvPr/>
        </p:nvSpPr>
        <p:spPr>
          <a:xfrm>
            <a:off x="704160" y="2578680"/>
            <a:ext cx="17913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Terraform</a:t>
            </a:r>
            <a:br>
              <a:rPr sz="1700"/>
            </a:b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configuration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9"/>
          <p:cNvSpPr/>
          <p:nvPr/>
        </p:nvSpPr>
        <p:spPr>
          <a:xfrm>
            <a:off x="3154680" y="2331720"/>
            <a:ext cx="2010960" cy="114228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3264480" y="2578680"/>
            <a:ext cx="17913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AzureRM</a:t>
            </a:r>
            <a:br>
              <a:rPr sz="1700"/>
            </a:b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provider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1"/>
          <p:cNvSpPr/>
          <p:nvPr/>
        </p:nvSpPr>
        <p:spPr>
          <a:xfrm>
            <a:off x="5715000" y="2331720"/>
            <a:ext cx="2010960" cy="114228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39C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2"/>
          <p:cNvSpPr/>
          <p:nvPr/>
        </p:nvSpPr>
        <p:spPr>
          <a:xfrm>
            <a:off x="5824800" y="2578680"/>
            <a:ext cx="17913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Azure dev</a:t>
            </a:r>
            <a:br>
              <a:rPr sz="1700"/>
            </a:b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environment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13"/>
          <p:cNvSpPr/>
          <p:nvPr/>
        </p:nvSpPr>
        <p:spPr>
          <a:xfrm>
            <a:off x="8275320" y="2331720"/>
            <a:ext cx="2010960" cy="114228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3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4"/>
          <p:cNvSpPr/>
          <p:nvPr/>
        </p:nvSpPr>
        <p:spPr>
          <a:xfrm>
            <a:off x="8385120" y="2578680"/>
            <a:ext cx="17913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Cloud</a:t>
            </a:r>
            <a:br>
              <a:rPr sz="1700"/>
            </a:b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resources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5"/>
          <p:cNvSpPr/>
          <p:nvPr/>
        </p:nvSpPr>
        <p:spPr>
          <a:xfrm>
            <a:off x="2679120" y="26244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→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6"/>
          <p:cNvSpPr/>
          <p:nvPr/>
        </p:nvSpPr>
        <p:spPr>
          <a:xfrm>
            <a:off x="5239440" y="26244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→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7"/>
          <p:cNvSpPr/>
          <p:nvPr/>
        </p:nvSpPr>
        <p:spPr>
          <a:xfrm>
            <a:off x="7799760" y="26244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→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8"/>
          <p:cNvSpPr/>
          <p:nvPr/>
        </p:nvSpPr>
        <p:spPr>
          <a:xfrm>
            <a:off x="731520" y="425196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Inputs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9"/>
          <p:cNvSpPr/>
          <p:nvPr/>
        </p:nvSpPr>
        <p:spPr>
          <a:xfrm>
            <a:off x="731520" y="4645080"/>
            <a:ext cx="4479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terraform.tfvars supplies environment-specific values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0"/>
          <p:cNvSpPr/>
          <p:nvPr/>
        </p:nvSpPr>
        <p:spPr>
          <a:xfrm>
            <a:off x="6172200" y="425196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9C787"/>
                </a:solidFill>
                <a:effectLst/>
                <a:uFillTx/>
                <a:latin typeface="Aptos"/>
              </a:rPr>
              <a:t>Outcome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1"/>
          <p:cNvSpPr/>
          <p:nvPr/>
        </p:nvSpPr>
        <p:spPr>
          <a:xfrm>
            <a:off x="6172200" y="4645080"/>
            <a:ext cx="4891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Repeatable Azure deployments with a reviewable change history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502920" y="228600"/>
            <a:ext cx="5028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WORKFLOW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11292840" y="642816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502920" y="621720"/>
            <a:ext cx="107892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 safe delivery workflow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5"/>
          <p:cNvSpPr/>
          <p:nvPr/>
        </p:nvSpPr>
        <p:spPr>
          <a:xfrm>
            <a:off x="502920" y="1398960"/>
            <a:ext cx="657720" cy="45000"/>
          </a:xfrm>
          <a:prstGeom prst="rect">
            <a:avLst/>
          </a:prstGeom>
          <a:solidFill>
            <a:srgbClr val="30C6FF"/>
          </a:solidFill>
          <a:ln>
            <a:solidFill>
              <a:srgbClr val="3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502920" y="157284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Small feedback loops reduce deployment risk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7"/>
          <p:cNvSpPr/>
          <p:nvPr/>
        </p:nvSpPr>
        <p:spPr>
          <a:xfrm>
            <a:off x="594360" y="2331720"/>
            <a:ext cx="2331000" cy="205668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8"/>
          <p:cNvSpPr/>
          <p:nvPr/>
        </p:nvSpPr>
        <p:spPr>
          <a:xfrm>
            <a:off x="758880" y="248724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1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9"/>
          <p:cNvSpPr/>
          <p:nvPr/>
        </p:nvSpPr>
        <p:spPr>
          <a:xfrm>
            <a:off x="1280160" y="252360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WRITE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0"/>
          <p:cNvSpPr/>
          <p:nvPr/>
        </p:nvSpPr>
        <p:spPr>
          <a:xfrm>
            <a:off x="850320" y="3246120"/>
            <a:ext cx="1809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Define or update code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1"/>
          <p:cNvSpPr/>
          <p:nvPr/>
        </p:nvSpPr>
        <p:spPr>
          <a:xfrm>
            <a:off x="2999160" y="3063240"/>
            <a:ext cx="32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78D4"/>
                </a:solidFill>
                <a:effectLst/>
                <a:uFillTx/>
                <a:latin typeface="Aptos"/>
              </a:rPr>
              <a:t>→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12"/>
          <p:cNvSpPr/>
          <p:nvPr/>
        </p:nvSpPr>
        <p:spPr>
          <a:xfrm>
            <a:off x="3447360" y="2331720"/>
            <a:ext cx="2331000" cy="205668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13"/>
          <p:cNvSpPr/>
          <p:nvPr/>
        </p:nvSpPr>
        <p:spPr>
          <a:xfrm>
            <a:off x="3611880" y="248724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2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4"/>
          <p:cNvSpPr/>
          <p:nvPr/>
        </p:nvSpPr>
        <p:spPr>
          <a:xfrm>
            <a:off x="4133160" y="252360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VALIDATE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5"/>
          <p:cNvSpPr/>
          <p:nvPr/>
        </p:nvSpPr>
        <p:spPr>
          <a:xfrm>
            <a:off x="3703320" y="3246120"/>
            <a:ext cx="1809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Catch syntax issues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6"/>
          <p:cNvSpPr/>
          <p:nvPr/>
        </p:nvSpPr>
        <p:spPr>
          <a:xfrm>
            <a:off x="5852160" y="3063240"/>
            <a:ext cx="32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78D4"/>
                </a:solidFill>
                <a:effectLst/>
                <a:uFillTx/>
                <a:latin typeface="Aptos"/>
              </a:rPr>
              <a:t>→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17"/>
          <p:cNvSpPr/>
          <p:nvPr/>
        </p:nvSpPr>
        <p:spPr>
          <a:xfrm>
            <a:off x="6300360" y="2331720"/>
            <a:ext cx="2331000" cy="205668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18"/>
          <p:cNvSpPr/>
          <p:nvPr/>
        </p:nvSpPr>
        <p:spPr>
          <a:xfrm>
            <a:off x="6464880" y="248724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3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9"/>
          <p:cNvSpPr/>
          <p:nvPr/>
        </p:nvSpPr>
        <p:spPr>
          <a:xfrm>
            <a:off x="6986160" y="252360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PLAN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0"/>
          <p:cNvSpPr/>
          <p:nvPr/>
        </p:nvSpPr>
        <p:spPr>
          <a:xfrm>
            <a:off x="6556320" y="3246120"/>
            <a:ext cx="1809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Review exact changes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1"/>
          <p:cNvSpPr/>
          <p:nvPr/>
        </p:nvSpPr>
        <p:spPr>
          <a:xfrm>
            <a:off x="8705160" y="3063240"/>
            <a:ext cx="32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78D4"/>
                </a:solidFill>
                <a:effectLst/>
                <a:uFillTx/>
                <a:latin typeface="Aptos"/>
              </a:rPr>
              <a:t>→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22"/>
          <p:cNvSpPr/>
          <p:nvPr/>
        </p:nvSpPr>
        <p:spPr>
          <a:xfrm>
            <a:off x="9153000" y="2331720"/>
            <a:ext cx="2331000" cy="205668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23"/>
          <p:cNvSpPr/>
          <p:nvPr/>
        </p:nvSpPr>
        <p:spPr>
          <a:xfrm>
            <a:off x="9317880" y="248724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4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4"/>
          <p:cNvSpPr/>
          <p:nvPr/>
        </p:nvSpPr>
        <p:spPr>
          <a:xfrm>
            <a:off x="9838800" y="252360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APPLY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5"/>
          <p:cNvSpPr/>
          <p:nvPr/>
        </p:nvSpPr>
        <p:spPr>
          <a:xfrm>
            <a:off x="9409320" y="3246120"/>
            <a:ext cx="1809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Deploy approved changes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6"/>
          <p:cNvSpPr/>
          <p:nvPr/>
        </p:nvSpPr>
        <p:spPr>
          <a:xfrm>
            <a:off x="685800" y="5074920"/>
            <a:ext cx="10697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7F2FF"/>
                </a:solidFill>
                <a:effectLst/>
                <a:uFillTx/>
                <a:latin typeface="Aptos"/>
              </a:rPr>
              <a:t>Key idea: the plan is the conversation before the change.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502920" y="228600"/>
            <a:ext cx="5028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DEMO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11292840" y="642816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4"/>
          <p:cNvSpPr/>
          <p:nvPr/>
        </p:nvSpPr>
        <p:spPr>
          <a:xfrm>
            <a:off x="502920" y="621720"/>
            <a:ext cx="107892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Live demo — 3 to 5 minutes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5"/>
          <p:cNvSpPr/>
          <p:nvPr/>
        </p:nvSpPr>
        <p:spPr>
          <a:xfrm>
            <a:off x="502920" y="1398960"/>
            <a:ext cx="657720" cy="45000"/>
          </a:xfrm>
          <a:prstGeom prst="rect">
            <a:avLst/>
          </a:prstGeom>
          <a:solidFill>
            <a:srgbClr val="30C6FF"/>
          </a:solidFill>
          <a:ln>
            <a:solidFill>
              <a:srgbClr val="3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6"/>
          <p:cNvSpPr/>
          <p:nvPr/>
        </p:nvSpPr>
        <p:spPr>
          <a:xfrm>
            <a:off x="502920" y="157284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Show the feedback loop, not every line of code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7"/>
          <p:cNvSpPr/>
          <p:nvPr/>
        </p:nvSpPr>
        <p:spPr>
          <a:xfrm>
            <a:off x="685800" y="2103120"/>
            <a:ext cx="1508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00:00–00:45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8"/>
          <p:cNvSpPr/>
          <p:nvPr/>
        </p:nvSpPr>
        <p:spPr>
          <a:xfrm>
            <a:off x="2331720" y="2103120"/>
            <a:ext cx="1142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Orient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9"/>
          <p:cNvSpPr/>
          <p:nvPr/>
        </p:nvSpPr>
        <p:spPr>
          <a:xfrm>
            <a:off x="3566160" y="2103120"/>
            <a:ext cx="7223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Show folders and the azure-dev variables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10"/>
          <p:cNvSpPr/>
          <p:nvPr/>
        </p:nvSpPr>
        <p:spPr>
          <a:xfrm>
            <a:off x="685800" y="2587680"/>
            <a:ext cx="10652040" cy="17640"/>
          </a:xfrm>
          <a:prstGeom prst="rect">
            <a:avLst/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11"/>
          <p:cNvSpPr/>
          <p:nvPr/>
        </p:nvSpPr>
        <p:spPr>
          <a:xfrm>
            <a:off x="685800" y="2944440"/>
            <a:ext cx="1508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00:45–01:30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2"/>
          <p:cNvSpPr/>
          <p:nvPr/>
        </p:nvSpPr>
        <p:spPr>
          <a:xfrm>
            <a:off x="2331720" y="2944440"/>
            <a:ext cx="1142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Validate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3"/>
          <p:cNvSpPr/>
          <p:nvPr/>
        </p:nvSpPr>
        <p:spPr>
          <a:xfrm>
            <a:off x="3566160" y="2944440"/>
            <a:ext cx="7223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Run terraform fmt -check and validate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14"/>
          <p:cNvSpPr/>
          <p:nvPr/>
        </p:nvSpPr>
        <p:spPr>
          <a:xfrm>
            <a:off x="685800" y="3429000"/>
            <a:ext cx="10652040" cy="17640"/>
          </a:xfrm>
          <a:prstGeom prst="rect">
            <a:avLst/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15"/>
          <p:cNvSpPr/>
          <p:nvPr/>
        </p:nvSpPr>
        <p:spPr>
          <a:xfrm>
            <a:off x="685800" y="3785760"/>
            <a:ext cx="1508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01:30–03:30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6"/>
          <p:cNvSpPr/>
          <p:nvPr/>
        </p:nvSpPr>
        <p:spPr>
          <a:xfrm>
            <a:off x="2331720" y="3785760"/>
            <a:ext cx="1142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Preview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7"/>
          <p:cNvSpPr/>
          <p:nvPr/>
        </p:nvSpPr>
        <p:spPr>
          <a:xfrm>
            <a:off x="3566160" y="3785760"/>
            <a:ext cx="7223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Run terraform plan and explain add/change/destroy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18"/>
          <p:cNvSpPr/>
          <p:nvPr/>
        </p:nvSpPr>
        <p:spPr>
          <a:xfrm>
            <a:off x="685800" y="4270320"/>
            <a:ext cx="10652040" cy="17640"/>
          </a:xfrm>
          <a:prstGeom prst="rect">
            <a:avLst/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19"/>
          <p:cNvSpPr/>
          <p:nvPr/>
        </p:nvSpPr>
        <p:spPr>
          <a:xfrm>
            <a:off x="685800" y="4626720"/>
            <a:ext cx="1508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03:30–05:00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0"/>
          <p:cNvSpPr/>
          <p:nvPr/>
        </p:nvSpPr>
        <p:spPr>
          <a:xfrm>
            <a:off x="2331720" y="4626720"/>
            <a:ext cx="1142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Connect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21"/>
          <p:cNvSpPr/>
          <p:nvPr/>
        </p:nvSpPr>
        <p:spPr>
          <a:xfrm>
            <a:off x="3566160" y="4626720"/>
            <a:ext cx="7223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Relate the plan back to Azure and recap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22"/>
          <p:cNvSpPr/>
          <p:nvPr/>
        </p:nvSpPr>
        <p:spPr>
          <a:xfrm>
            <a:off x="685800" y="5111640"/>
            <a:ext cx="10652040" cy="17640"/>
          </a:xfrm>
          <a:prstGeom prst="rect">
            <a:avLst/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ounded Rectangle 23"/>
          <p:cNvSpPr/>
          <p:nvPr/>
        </p:nvSpPr>
        <p:spPr>
          <a:xfrm>
            <a:off x="685800" y="5669280"/>
            <a:ext cx="10652040" cy="456480"/>
          </a:xfrm>
          <a:prstGeom prst="roundRect">
            <a:avLst>
              <a:gd name="adj" fmla="val 16667"/>
            </a:avLst>
          </a:prstGeom>
          <a:solidFill>
            <a:srgbClr val="362B19"/>
          </a:solidFill>
          <a:ln>
            <a:solidFill>
              <a:srgbClr val="FFAE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24"/>
          <p:cNvSpPr/>
          <p:nvPr/>
        </p:nvSpPr>
        <p:spPr>
          <a:xfrm>
            <a:off x="914400" y="5769720"/>
            <a:ext cx="10149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AE42"/>
                </a:solidFill>
                <a:effectLst/>
                <a:uFillTx/>
                <a:latin typeface="Aptos"/>
              </a:rPr>
              <a:t>Fallback: keep a saved plan screenshot or terminal output ready.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2"/>
          <p:cNvSpPr/>
          <p:nvPr/>
        </p:nvSpPr>
        <p:spPr>
          <a:xfrm>
            <a:off x="502920" y="228600"/>
            <a:ext cx="5028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ENGINEERING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3"/>
          <p:cNvSpPr/>
          <p:nvPr/>
        </p:nvSpPr>
        <p:spPr>
          <a:xfrm>
            <a:off x="11292840" y="642816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4"/>
          <p:cNvSpPr/>
          <p:nvPr/>
        </p:nvSpPr>
        <p:spPr>
          <a:xfrm>
            <a:off x="502920" y="621720"/>
            <a:ext cx="107892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Production-minded guardrails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5"/>
          <p:cNvSpPr/>
          <p:nvPr/>
        </p:nvSpPr>
        <p:spPr>
          <a:xfrm>
            <a:off x="502920" y="1398960"/>
            <a:ext cx="657720" cy="45000"/>
          </a:xfrm>
          <a:prstGeom prst="rect">
            <a:avLst/>
          </a:prstGeom>
          <a:solidFill>
            <a:srgbClr val="30C6FF"/>
          </a:solidFill>
          <a:ln>
            <a:solidFill>
              <a:srgbClr val="3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6"/>
          <p:cNvSpPr/>
          <p:nvPr/>
        </p:nvSpPr>
        <p:spPr>
          <a:xfrm>
            <a:off x="502920" y="157284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Terraform is powerful; the workflow around it matters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7"/>
          <p:cNvSpPr/>
          <p:nvPr/>
        </p:nvSpPr>
        <p:spPr>
          <a:xfrm>
            <a:off x="640080" y="2103120"/>
            <a:ext cx="5302800" cy="333684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8"/>
          <p:cNvSpPr/>
          <p:nvPr/>
        </p:nvSpPr>
        <p:spPr>
          <a:xfrm>
            <a:off x="914400" y="242316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FOUNDATION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9"/>
          <p:cNvSpPr/>
          <p:nvPr/>
        </p:nvSpPr>
        <p:spPr>
          <a:xfrm>
            <a:off x="914400" y="2907720"/>
            <a:ext cx="45712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●  Remote, protected state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●  No secrets committed to source control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●  Pinned provider and module versions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10"/>
          <p:cNvSpPr/>
          <p:nvPr/>
        </p:nvSpPr>
        <p:spPr>
          <a:xfrm>
            <a:off x="6263640" y="2103120"/>
            <a:ext cx="5302800" cy="333684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1"/>
          <p:cNvSpPr/>
          <p:nvPr/>
        </p:nvSpPr>
        <p:spPr>
          <a:xfrm>
            <a:off x="6537960" y="242316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9C787"/>
                </a:solidFill>
                <a:effectLst/>
                <a:uFillTx/>
                <a:latin typeface="Aptos"/>
              </a:rPr>
              <a:t>TEAM CONTROLS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2"/>
          <p:cNvSpPr/>
          <p:nvPr/>
        </p:nvSpPr>
        <p:spPr>
          <a:xfrm>
            <a:off x="6537960" y="2907720"/>
            <a:ext cx="45712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●  Pull-request review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●  Automated validation and policy checks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●  Separate values and access by environment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502920" y="228600"/>
            <a:ext cx="5028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TAKEAWAYS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11292840" y="642816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09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4"/>
          <p:cNvSpPr/>
          <p:nvPr/>
        </p:nvSpPr>
        <p:spPr>
          <a:xfrm>
            <a:off x="502920" y="621720"/>
            <a:ext cx="107892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What this project demonstrates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5"/>
          <p:cNvSpPr/>
          <p:nvPr/>
        </p:nvSpPr>
        <p:spPr>
          <a:xfrm>
            <a:off x="502920" y="1398960"/>
            <a:ext cx="657720" cy="45000"/>
          </a:xfrm>
          <a:prstGeom prst="rect">
            <a:avLst/>
          </a:prstGeom>
          <a:solidFill>
            <a:srgbClr val="30C6FF"/>
          </a:solidFill>
          <a:ln>
            <a:solidFill>
              <a:srgbClr val="3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6"/>
          <p:cNvSpPr/>
          <p:nvPr/>
        </p:nvSpPr>
        <p:spPr>
          <a:xfrm>
            <a:off x="502920" y="157284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Cloud delivery as an understandable, repeatable system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7"/>
          <p:cNvSpPr/>
          <p:nvPr/>
        </p:nvSpPr>
        <p:spPr>
          <a:xfrm>
            <a:off x="640080" y="2286000"/>
            <a:ext cx="3336840" cy="260532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8"/>
          <p:cNvSpPr/>
          <p:nvPr/>
        </p:nvSpPr>
        <p:spPr>
          <a:xfrm>
            <a:off x="887040" y="2670120"/>
            <a:ext cx="2833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C4DFF"/>
                </a:solidFill>
                <a:effectLst/>
                <a:uFillTx/>
                <a:latin typeface="Aptos"/>
              </a:rPr>
              <a:t>REPEATABLE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9"/>
          <p:cNvSpPr/>
          <p:nvPr/>
        </p:nvSpPr>
        <p:spPr>
          <a:xfrm>
            <a:off x="987480" y="3319200"/>
            <a:ext cx="265104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The same code can recreate an environment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10"/>
          <p:cNvSpPr/>
          <p:nvPr/>
        </p:nvSpPr>
        <p:spPr>
          <a:xfrm>
            <a:off x="4434840" y="2286000"/>
            <a:ext cx="3336840" cy="260532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11"/>
          <p:cNvSpPr/>
          <p:nvPr/>
        </p:nvSpPr>
        <p:spPr>
          <a:xfrm>
            <a:off x="4681800" y="2670120"/>
            <a:ext cx="2833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78D4"/>
                </a:solidFill>
                <a:effectLst/>
                <a:uFillTx/>
                <a:latin typeface="Aptos"/>
              </a:rPr>
              <a:t>REVIEWABLE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2"/>
          <p:cNvSpPr/>
          <p:nvPr/>
        </p:nvSpPr>
        <p:spPr>
          <a:xfrm>
            <a:off x="4782240" y="3319200"/>
            <a:ext cx="265104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Changes are visible before deployment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13"/>
          <p:cNvSpPr/>
          <p:nvPr/>
        </p:nvSpPr>
        <p:spPr>
          <a:xfrm>
            <a:off x="8229600" y="2286000"/>
            <a:ext cx="3336840" cy="260532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17243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4"/>
          <p:cNvSpPr/>
          <p:nvPr/>
        </p:nvSpPr>
        <p:spPr>
          <a:xfrm>
            <a:off x="8476560" y="2670120"/>
            <a:ext cx="2833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9C787"/>
                </a:solidFill>
                <a:effectLst/>
                <a:uFillTx/>
                <a:latin typeface="Aptos"/>
              </a:rPr>
              <a:t>EXTENSIBLE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8577000" y="3319200"/>
            <a:ext cx="265104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Patterns can grow into reusable modules and pipelines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6"/>
          <p:cNvSpPr/>
          <p:nvPr/>
        </p:nvSpPr>
        <p:spPr>
          <a:xfrm>
            <a:off x="777240" y="5367600"/>
            <a:ext cx="10560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E7F2FF"/>
                </a:solidFill>
                <a:effectLst/>
                <a:uFillTx/>
                <a:latin typeface="Aptos"/>
              </a:rPr>
              <a:t>From one Azure development environment to a scalable delivery practice.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2"/>
          <p:cNvSpPr/>
          <p:nvPr/>
        </p:nvSpPr>
        <p:spPr>
          <a:xfrm>
            <a:off x="502920" y="228600"/>
            <a:ext cx="5028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QUESTIONS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"/>
          <p:cNvSpPr/>
          <p:nvPr/>
        </p:nvSpPr>
        <p:spPr>
          <a:xfrm>
            <a:off x="11292840" y="642816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4"/>
          <p:cNvSpPr/>
          <p:nvPr/>
        </p:nvSpPr>
        <p:spPr>
          <a:xfrm>
            <a:off x="640080" y="1207080"/>
            <a:ext cx="89604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Infrastructure becomes easier to trust</a:t>
            </a:r>
            <a:br>
              <a:rPr sz="3400"/>
            </a:b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when it is visible as code.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5"/>
          <p:cNvSpPr/>
          <p:nvPr/>
        </p:nvSpPr>
        <p:spPr>
          <a:xfrm>
            <a:off x="658440" y="2880360"/>
            <a:ext cx="959400" cy="63360"/>
          </a:xfrm>
          <a:prstGeom prst="rect">
            <a:avLst/>
          </a:prstGeom>
          <a:solidFill>
            <a:srgbClr val="30C6FF"/>
          </a:solidFill>
          <a:ln>
            <a:solidFill>
              <a:srgbClr val="3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6"/>
          <p:cNvSpPr/>
          <p:nvPr/>
        </p:nvSpPr>
        <p:spPr>
          <a:xfrm>
            <a:off x="658440" y="324612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30C6FF"/>
                </a:solidFill>
                <a:effectLst/>
                <a:uFillTx/>
                <a:latin typeface="Aptos"/>
              </a:rPr>
              <a:t>Thank you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7"/>
          <p:cNvSpPr/>
          <p:nvPr/>
        </p:nvSpPr>
        <p:spPr>
          <a:xfrm>
            <a:off x="658440" y="388620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Leonard Johnson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8"/>
          <p:cNvSpPr/>
          <p:nvPr/>
        </p:nvSpPr>
        <p:spPr>
          <a:xfrm>
            <a:off x="658440" y="438912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B2C2D6"/>
                </a:solidFill>
                <a:effectLst/>
                <a:uFillTx/>
                <a:latin typeface="Aptos"/>
              </a:rPr>
              <a:t>Questions &amp; discussion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9"/>
          <p:cNvSpPr/>
          <p:nvPr/>
        </p:nvSpPr>
        <p:spPr>
          <a:xfrm>
            <a:off x="8458200" y="2217960"/>
            <a:ext cx="2559600" cy="2559600"/>
          </a:xfrm>
          <a:prstGeom prst="roundRect">
            <a:avLst>
              <a:gd name="adj" fmla="val 16667"/>
            </a:avLst>
          </a:prstGeom>
          <a:solidFill>
            <a:srgbClr val="172436"/>
          </a:solidFill>
          <a:ln>
            <a:solidFill>
              <a:srgbClr val="7C4D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10"/>
          <p:cNvSpPr/>
          <p:nvPr/>
        </p:nvSpPr>
        <p:spPr>
          <a:xfrm>
            <a:off x="8458200" y="2400120"/>
            <a:ext cx="255960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800" b="1" u="none" strike="noStrike">
                <a:solidFill>
                  <a:srgbClr val="7C4DFF"/>
                </a:solidFill>
                <a:effectLst/>
                <a:uFillTx/>
                <a:latin typeface="Aptos"/>
              </a:rPr>
              <a:t>?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Leonard Johnson</dc:creator>
  <dc:description>Mixed technical and non-technical audience; designed for under 15 minutes.</dc:description>
  <cp:keywords>Terraform Azure Infrastructure as Code IaC</cp:keywords>
  <dc:language>en-US</dc:language>
  <cp:lastModifiedBy/>
  <dcterms:modified xsi:type="dcterms:W3CDTF">2026-10-10T13:00:10Z</dcterms:modified>
  <cp:revision>3</cp:revision>
  <dc:subject>Terraform Azure project presentation</dc:subject>
  <dc:title>Infrastructure as Code on Microsoft Azure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